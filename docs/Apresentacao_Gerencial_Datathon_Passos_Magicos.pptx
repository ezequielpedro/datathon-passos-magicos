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datathon-paapps-magicos-mvvnztn5iqbrwst443szx9.streamlit.app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zequielpedro/datathon-passos-magicos" TargetMode="External"/><Relationship Id="rId3" Type="http://schemas.openxmlformats.org/officeDocument/2006/relationships/hyperlink" Target="https://app.powerbi.com/view?r=eyJrIjoiNmIxMjhkZDgtNjBmYi00ZjJkLWJiYWYtNjliMTQ0N2MyZWQ2IiwidCI6Ijg1NzM3Y2U3LTZlM2ItNGVkNC05NzUzLWU2NDI1ZDk0ZTVkZiJ9" TargetMode="External"/><Relationship Id="rId4" Type="http://schemas.openxmlformats.org/officeDocument/2006/relationships/hyperlink" Target="https://datathon-paapps-magicos-mvvnztn5iqbrwst443szx9.streamlit.app/" TargetMode="External"/><Relationship Id="rId5" Type="http://schemas.openxmlformats.org/officeDocument/2006/relationships/hyperlink" Target="https://www.youtube.com/watch?v=2Ak7RlqrFUg&amp;feature=youtu.b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640080"/>
            <a:ext cx="3108960" cy="3108960"/>
          </a:xfrm>
          <a:prstGeom prst="ellipse">
            <a:avLst/>
          </a:prstGeom>
          <a:solidFill>
            <a:srgbClr val="1D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097280"/>
            <a:ext cx="1920240" cy="19202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D8CF8"/>
                </a:solidFill>
                <a:latin typeface="Aptos"/>
              </a:rPr>
              <a:t>DATATHON • PÓS-TECH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680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ptos"/>
              </a:rPr>
              <a:t>Passos Mágicos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8869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  <a:latin typeface="Aptos"/>
              </a:rPr>
              <a:t>Predição de Risco Educacional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07792"/>
            <a:ext cx="8503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Análise longitudinal 2022–2024, storytelling em BI e modelo preditivo para apoiar a identificação preventiva de alunos com risco de entrada em defasagem.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160520"/>
            <a:ext cx="1234440" cy="411480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24281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Power 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2848" y="4160520"/>
            <a:ext cx="1783080" cy="411480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2848" y="4242816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Machine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60520"/>
            <a:ext cx="1234440" cy="411480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424281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74243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Pedro Ezequiel Ferreira Lima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607161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FIAP • Datathon Fase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Datathon Pós-Tech • Associação Passos Mágicos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Desafio de negócio e abordagem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Transformar dados educacionais em evidências gerenciais e em uma ferramenta de prevenção.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05840" cy="50292"/>
          </a:xfrm>
          <a:prstGeom prst="rect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01568" cy="1600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8366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8CF8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220"/>
                </a:solidFill>
                <a:latin typeface="Aptos"/>
              </a:rPr>
              <a:t>Evolução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78608"/>
            <a:ext cx="2880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Como os indicadores educacionais evoluíram entre 2022 e 2024?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691640"/>
            <a:ext cx="3401568" cy="1600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88366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17627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220"/>
                </a:solidFill>
                <a:latin typeface="Aptos"/>
              </a:rPr>
              <a:t>Relações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78608"/>
            <a:ext cx="2880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Quais dimensões estão associadas ao desenvolvimento e à defasagem?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3" y="1691640"/>
            <a:ext cx="3401568" cy="1600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3" y="188366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F476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3063" y="217627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220"/>
                </a:solidFill>
                <a:latin typeface="Aptos"/>
              </a:rPr>
              <a:t>Prevenção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3" y="2578608"/>
            <a:ext cx="2880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É possível antecipar quem pode entrar em defasagem no ciclo seguinte?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  <a:latin typeface="Aptos"/>
              </a:rPr>
              <a:t>Pipeline analítico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15968"/>
            <a:ext cx="19019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507992"/>
            <a:ext cx="16824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B1220"/>
                </a:solidFill>
                <a:latin typeface="Aptos"/>
              </a:rPr>
              <a:t>Base PEDE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7823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2022–2024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4328" y="455371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8CF8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4315968"/>
            <a:ext cx="19019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81528" y="4507992"/>
            <a:ext cx="16824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B1220"/>
                </a:solidFill>
                <a:latin typeface="Aptos"/>
              </a:rPr>
              <a:t>Tratamento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528" y="47823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padronização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455371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8CF8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4315968"/>
            <a:ext cx="19019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67528" y="4507992"/>
            <a:ext cx="16824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B1220"/>
                </a:solidFill>
                <a:latin typeface="Aptos"/>
              </a:rPr>
              <a:t>EDA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7528" y="47823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11 perguntas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55371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8CF8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315968"/>
            <a:ext cx="19019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53527" y="4507992"/>
            <a:ext cx="16824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B1220"/>
                </a:solidFill>
                <a:latin typeface="Aptos"/>
              </a:rPr>
              <a:t>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3527" y="47823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risco futuro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2328" y="455371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8CF8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4315968"/>
            <a:ext cx="19019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9528" y="4507992"/>
            <a:ext cx="16824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B1220"/>
                </a:solidFill>
                <a:latin typeface="Aptos"/>
              </a:rPr>
              <a:t>Streamlit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47823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uso prático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650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1220"/>
                </a:solidFill>
                <a:latin typeface="Aptos"/>
              </a:rPr>
              <a:t>Princípio central: </a:t>
            </a:r>
            <a:r>
              <a:rPr sz="1200" b="0">
                <a:solidFill>
                  <a:srgbClr val="64748B"/>
                </a:solidFill>
                <a:latin typeface="Aptos"/>
              </a:rPr>
              <a:t>usar apenas informações disponíveis antes do resultado futuro, reduzindo risco de data leakage.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Datathon Pós-Tech • Associação Passos Mágicos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Evolução geral: melhora agregada com queda da defasagem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O período mostra avanço no indicador global, mas ainda existe uma parcela relevante de alunos abaixo do nível esperado.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05840" cy="50292"/>
          </a:xfrm>
          <a:prstGeom prst="rect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72768"/>
            <a:ext cx="5623560" cy="4526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1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15" y="1700784"/>
            <a:ext cx="4622992" cy="42793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37960" y="1664208"/>
            <a:ext cx="23317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60" y="1664208"/>
            <a:ext cx="64008" cy="1234440"/>
          </a:xfrm>
          <a:prstGeom prst="rect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9128" y="1828800"/>
            <a:ext cx="2011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220"/>
                </a:solidFill>
                <a:latin typeface="Aptos"/>
              </a:rPr>
              <a:t>1.156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2368296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alunos em 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664208"/>
            <a:ext cx="23317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98280" y="1664208"/>
            <a:ext cx="64008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9448" y="1828800"/>
            <a:ext cx="2011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220"/>
                </a:solidFill>
                <a:latin typeface="Aptos"/>
              </a:rPr>
              <a:t>7,40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8" y="2368296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INDE médio em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136392"/>
            <a:ext cx="23317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3136392"/>
            <a:ext cx="64008" cy="1234440"/>
          </a:xfrm>
          <a:prstGeom prst="rect">
            <a:avLst/>
          </a:prstGeom>
          <a:solidFill>
            <a:srgbClr val="EF476F"/>
          </a:solidFill>
          <a:ln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3300984"/>
            <a:ext cx="2011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220"/>
                </a:solidFill>
                <a:latin typeface="Aptos"/>
              </a:rPr>
              <a:t>46,2%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3840480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taxa de defasagem em 2024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136392"/>
            <a:ext cx="23317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3136392"/>
            <a:ext cx="64008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3300984"/>
            <a:ext cx="2011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220"/>
                </a:solidFill>
                <a:latin typeface="Aptos"/>
              </a:rPr>
              <a:t>534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840480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alunos em defasagem em 2024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4663440"/>
            <a:ext cx="4892040" cy="122529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484632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8CF8"/>
                </a:solidFill>
                <a:latin typeface="Aptos"/>
              </a:rPr>
              <a:t>2022 →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516636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1220"/>
                </a:solidFill>
                <a:latin typeface="Aptos"/>
              </a:rPr>
              <a:t>INDE: </a:t>
            </a:r>
            <a:r>
              <a:rPr sz="1500" b="1">
                <a:solidFill>
                  <a:srgbClr val="22C55E"/>
                </a:solidFill>
                <a:latin typeface="Aptos"/>
              </a:rPr>
              <a:t>7,04 → 7,40</a:t>
            </a:r>
            <a:r>
              <a:rPr sz="1500" b="0">
                <a:solidFill>
                  <a:srgbClr val="64748B"/>
                </a:solidFill>
                <a:latin typeface="Aptos"/>
              </a:rPr>
              <a:t>    |    </a:t>
            </a:r>
            <a:r>
              <a:rPr sz="1500" b="1">
                <a:solidFill>
                  <a:srgbClr val="0B1220"/>
                </a:solidFill>
                <a:latin typeface="Aptos"/>
              </a:rPr>
              <a:t>Defasagem: </a:t>
            </a:r>
            <a:r>
              <a:rPr sz="1500" b="1">
                <a:solidFill>
                  <a:srgbClr val="EF476F"/>
                </a:solidFill>
                <a:latin typeface="Aptos"/>
              </a:rPr>
              <a:t>69,9% → 46,2%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5522976"/>
            <a:ext cx="4251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Leitura gerencial: há evidência de evolução positiva no período, sem assumir causalidade do programa a partir desses dados observacionais.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Datathon Pós-Tech • Associação Passos Mágicos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O desenvolvimento do aluno é multidimensional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Desempenho, engajamento, autoavaliação e aspectos psicopedagógicos não contam a mesma história isoladamente.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05840" cy="50292"/>
          </a:xfrm>
          <a:prstGeom prst="rect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72768"/>
            <a:ext cx="5166360" cy="40416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2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359" y="1700784"/>
            <a:ext cx="4075505" cy="378561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28232" y="1572768"/>
            <a:ext cx="5166360" cy="40416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3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231" y="1700784"/>
            <a:ext cx="4075505" cy="37856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5779008"/>
            <a:ext cx="3401568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888736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D8CF8"/>
                </a:solidFill>
                <a:latin typeface="Aptos"/>
              </a:rPr>
              <a:t>IEG × 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5843016"/>
            <a:ext cx="22128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Engajamento apresenta associação positiva com aprendizagem.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5779008"/>
            <a:ext cx="3401568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5888736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Aptos"/>
              </a:rPr>
              <a:t>IAA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843016"/>
            <a:ext cx="22128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Autoavaliação é complementar: o alinhamento com desempenho é mais disperso.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5779008"/>
            <a:ext cx="3401568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5888736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F476F"/>
                </a:solidFill>
                <a:latin typeface="Aptos"/>
              </a:rPr>
              <a:t>IPP × IPV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5843016"/>
            <a:ext cx="22128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A relação psicopedagógica com o ponto de virada aparece como uma das associações mais claras.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Datathon Pós-Tech • Associação Passos Mágicos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Machine Learning: prever entrada em defasagem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Aptos"/>
              </a:rPr>
              <a:t>Formulação temporal: dados de 2023 para estimar risco em 2024.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05840" cy="50292"/>
          </a:xfrm>
          <a:prstGeom prst="rect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População do problema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1965960" cy="1444752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746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D8CF8"/>
                </a:solidFill>
                <a:latin typeface="Aptos"/>
              </a:rPr>
              <a:t>765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852928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alunos presentes
em 2023 e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2344" y="2660904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27832" y="2148840"/>
            <a:ext cx="1965960" cy="1444752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377440"/>
            <a:ext cx="1746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7C3AED"/>
                </a:solidFill>
                <a:latin typeface="Aptos"/>
              </a:rPr>
              <a:t>370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852928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sem defasagem
em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6944" y="2660904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2148840"/>
            <a:ext cx="1965960" cy="1444752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2377440"/>
            <a:ext cx="1746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EF476F"/>
                </a:solidFill>
                <a:latin typeface="Aptos"/>
              </a:rPr>
              <a:t>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852928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entraram em
defasagem em 2024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700784"/>
            <a:ext cx="3182112" cy="4251960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1947672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Desenho do modelo</a:t>
            </a:r>
          </a:p>
        </p:txBody>
      </p:sp>
      <p:sp>
        <p:nvSpPr>
          <p:cNvPr id="19" name="Oval 18"/>
          <p:cNvSpPr/>
          <p:nvPr/>
        </p:nvSpPr>
        <p:spPr>
          <a:xfrm>
            <a:off x="8668512" y="2596896"/>
            <a:ext cx="100584" cy="100584"/>
          </a:xfrm>
          <a:prstGeom prst="ellipse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487168"/>
            <a:ext cx="234086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21 variáveis de 2023 + features derivadas</a:t>
            </a:r>
          </a:p>
        </p:txBody>
      </p:sp>
      <p:sp>
        <p:nvSpPr>
          <p:cNvPr id="21" name="Oval 20"/>
          <p:cNvSpPr/>
          <p:nvPr/>
        </p:nvSpPr>
        <p:spPr>
          <a:xfrm>
            <a:off x="8668512" y="3127248"/>
            <a:ext cx="100584" cy="100584"/>
          </a:xfrm>
          <a:prstGeom prst="ellipse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3017520"/>
            <a:ext cx="234086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Split estratificado 75% treino / 25% teste</a:t>
            </a:r>
          </a:p>
        </p:txBody>
      </p:sp>
      <p:sp>
        <p:nvSpPr>
          <p:cNvPr id="23" name="Oval 22"/>
          <p:cNvSpPr/>
          <p:nvPr/>
        </p:nvSpPr>
        <p:spPr>
          <a:xfrm>
            <a:off x="8668512" y="3657600"/>
            <a:ext cx="100584" cy="100584"/>
          </a:xfrm>
          <a:prstGeom prst="ellipse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3547872"/>
            <a:ext cx="234086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Validação cruzada em 5 folds</a:t>
            </a:r>
          </a:p>
        </p:txBody>
      </p:sp>
      <p:sp>
        <p:nvSpPr>
          <p:cNvPr id="25" name="Oval 24"/>
          <p:cNvSpPr/>
          <p:nvPr/>
        </p:nvSpPr>
        <p:spPr>
          <a:xfrm>
            <a:off x="8668512" y="4187952"/>
            <a:ext cx="100584" cy="100584"/>
          </a:xfrm>
          <a:prstGeom prst="ellipse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4078224"/>
            <a:ext cx="234086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Modelos: Regressão Logística, Random Forest e HistGradientBoosting</a:t>
            </a:r>
          </a:p>
        </p:txBody>
      </p:sp>
      <p:sp>
        <p:nvSpPr>
          <p:cNvPr id="27" name="Oval 26"/>
          <p:cNvSpPr/>
          <p:nvPr/>
        </p:nvSpPr>
        <p:spPr>
          <a:xfrm>
            <a:off x="8668512" y="4718304"/>
            <a:ext cx="100584" cy="100584"/>
          </a:xfrm>
          <a:prstGeom prst="ellipse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4608576"/>
            <a:ext cx="234086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Seleção priorizando F2 e recall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160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Feature engineering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599432"/>
            <a:ext cx="3401568" cy="621792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700016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Tempo no programa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57984" y="4690872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94A3B8"/>
                </a:solidFill>
                <a:latin typeface="Aptos"/>
              </a:rPr>
              <a:t>2023 - ano de ingresso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16552" y="4599432"/>
            <a:ext cx="3401568" cy="621792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2856" y="4700016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Média das notas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1304" y="4690872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94A3B8"/>
                </a:solidFill>
                <a:latin typeface="Aptos"/>
              </a:rPr>
              <a:t>Matemática, Português e Inglês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385816"/>
            <a:ext cx="3401568" cy="621792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548640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Média dos indicadores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57984" y="5477256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94A3B8"/>
                </a:solidFill>
                <a:latin typeface="Aptos"/>
              </a:rPr>
              <a:t>IAN, IDA, IEG, IAA, IPS, IPP e IPV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16552" y="5385816"/>
            <a:ext cx="3401568" cy="621792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62856" y="548640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Menor indicador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61304" y="5477256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94A3B8"/>
                </a:solidFill>
                <a:latin typeface="Aptos"/>
              </a:rPr>
              <a:t>sinal de fragilidade multidimensional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Datathon Pós-Tech • Associação Passos Mágicos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Resultado do modelo: foco em não deixar casos de risco passarem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Aptos"/>
              </a:rPr>
              <a:t>Random Forest selecionado; limiar ajustado para 41% usando somente dados de treino.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05840" cy="50292"/>
          </a:xfrm>
          <a:prstGeom prst="rect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73352"/>
            <a:ext cx="2331720" cy="1261872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73352"/>
            <a:ext cx="64008" cy="126187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37944"/>
            <a:ext cx="2011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90,5%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77440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Recall no teste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2112" y="1673352"/>
            <a:ext cx="2331720" cy="1261872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82112" y="1673352"/>
            <a:ext cx="64008" cy="1261872"/>
          </a:xfrm>
          <a:prstGeom prst="rect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37944"/>
            <a:ext cx="2011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84,1%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77440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F2 Score no teste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05856" y="1673352"/>
            <a:ext cx="2331720" cy="1261872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05856" y="1673352"/>
            <a:ext cx="64008" cy="12618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1837944"/>
            <a:ext cx="2011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95,3%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2377440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ROC-AUC no teste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73352"/>
            <a:ext cx="2331720" cy="1261872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673352"/>
            <a:ext cx="64008" cy="1261872"/>
          </a:xfrm>
          <a:prstGeom prst="rect">
            <a:avLst/>
          </a:prstGeom>
          <a:solidFill>
            <a:srgbClr val="EF476F"/>
          </a:solidFill>
          <a:ln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837944"/>
            <a:ext cx="2011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65,5%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377440"/>
            <a:ext cx="2011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Precision no teste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3101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Matriz de confusão — conjunto de teste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6816" y="3657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Aptos"/>
              </a:rPr>
              <a:t>Predição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2511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Aptos"/>
              </a:rPr>
              <a:t>Real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3977639"/>
            <a:ext cx="1572768" cy="777240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4078224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  <a:latin typeface="Aptos"/>
              </a:rPr>
              <a:t>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105655"/>
            <a:ext cx="932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Verdadeiros negativos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3977639"/>
            <a:ext cx="1572768" cy="777240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4078224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Aptos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105655"/>
            <a:ext cx="932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Falsos positivos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4919472"/>
            <a:ext cx="1572768" cy="777240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08760" y="5020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F476F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5047488"/>
            <a:ext cx="932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Falsos negativos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4919472"/>
            <a:ext cx="1572768" cy="777240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5020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8CF8"/>
                </a:solidFill>
                <a:latin typeface="Aptos"/>
              </a:rP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5047488"/>
            <a:ext cx="932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Verdadeiros positivos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3401568"/>
            <a:ext cx="5989320" cy="2286000"/>
          </a:xfrm>
          <a:prstGeom prst="roundRect">
            <a:avLst/>
          </a:prstGeom>
          <a:solidFill>
            <a:srgbClr val="141F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97296" y="3657600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Trade-off escolhido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7296" y="409651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Aptos"/>
              </a:rPr>
              <a:t>19 de 21</a:t>
            </a:r>
            <a:r>
              <a:rPr sz="1300" b="0">
                <a:solidFill>
                  <a:srgbClr val="CBD5E1"/>
                </a:solidFill>
                <a:latin typeface="Aptos"/>
              </a:rPr>
              <a:t> alunos que realmente entraram em defasagem foram identificados.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7296" y="4590288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F476F"/>
                </a:solidFill>
                <a:latin typeface="Aptos"/>
              </a:rPr>
              <a:t>2 falsos negativos</a:t>
            </a:r>
            <a:r>
              <a:rPr sz="1200" b="0">
                <a:solidFill>
                  <a:srgbClr val="CBD5E1"/>
                </a:solidFill>
                <a:latin typeface="Aptos"/>
              </a:rPr>
              <a:t> e </a:t>
            </a:r>
            <a:r>
              <a:rPr sz="1200" b="1">
                <a:solidFill>
                  <a:srgbClr val="F59E0B"/>
                </a:solidFill>
                <a:latin typeface="Aptos"/>
              </a:rPr>
              <a:t>10 falsos positivos</a:t>
            </a:r>
            <a:r>
              <a:rPr sz="1200" b="0">
                <a:solidFill>
                  <a:srgbClr val="CBD5E1"/>
                </a:solidFill>
                <a:latin typeface="Aptos"/>
              </a:rPr>
              <a:t> — custo deliberado para aumentar a sensibilidade.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7296" y="5212080"/>
            <a:ext cx="5166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94A3B8"/>
                </a:solidFill>
                <a:latin typeface="Aptos"/>
              </a:rPr>
              <a:t>Uso recomendado: triagem preventiva + revisão humana, nunca decisão automática.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Datathon Pós-Tech • Associação Passos Mágicos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Da análise para uma solução utilizável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A aplicação Streamlit disponibiliza o modelo treinado para apoiar a priorização de acompanhamento.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05840" cy="50292"/>
          </a:xfrm>
          <a:prstGeom prst="rect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72768"/>
            <a:ext cx="10972800" cy="32461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eamlit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883" y="1719072"/>
            <a:ext cx="8815753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102352"/>
            <a:ext cx="2487168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529437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D8CF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5230368"/>
            <a:ext cx="17556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B1220"/>
                </a:solidFill>
                <a:latin typeface="Aptos"/>
              </a:rPr>
              <a:t>Equipe informa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486400"/>
            <a:ext cx="18105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Aptos"/>
              </a:rPr>
              <a:t>perfil, indicadores e notas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5102352"/>
            <a:ext cx="2487168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529437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230368"/>
            <a:ext cx="17556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B1220"/>
                </a:solidFill>
                <a:latin typeface="Aptos"/>
              </a:rPr>
              <a:t>Modelo estima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486400"/>
            <a:ext cx="18105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Aptos"/>
              </a:rPr>
              <a:t>probabilidade de entrada em defasagem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5102352"/>
            <a:ext cx="2487168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529437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476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3" y="5230368"/>
            <a:ext cx="17556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B1220"/>
                </a:solidFill>
                <a:latin typeface="Aptos"/>
              </a:rPr>
              <a:t>Sistema sinaliza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3" y="5486400"/>
            <a:ext cx="18105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Aptos"/>
              </a:rPr>
              <a:t>casos acima do limiar de 41%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5102352"/>
            <a:ext cx="2487168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529437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5230368"/>
            <a:ext cx="17556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B1220"/>
                </a:solidFill>
                <a:latin typeface="Aptos"/>
              </a:rPr>
              <a:t>Equipe revisa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5486400"/>
            <a:ext cx="18105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Aptos"/>
              </a:rPr>
              <a:t>contexto antes de qualquer 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8134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1D8CF8"/>
                </a:solidFill>
                <a:latin typeface="Aptos"/>
                <a:hlinkClick r:id="rId3"/>
              </a:rPr>
              <a:t>Abrir aplicação Streamlit 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Datathon Pós-Tech • Associação Passos Mágicos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B1220"/>
                </a:solidFill>
                <a:latin typeface="Aptos"/>
              </a:rPr>
              <a:t>Conclusões gerenciais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O projeto conecta diagnóstico histórico, prevenção de risco e disponibilização prática do modelo.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05840" cy="50292"/>
          </a:xfrm>
          <a:prstGeom prst="rect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Principais conclusões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5257800" cy="6766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21991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2C55E"/>
                </a:solidFill>
                <a:latin typeface="Aptos"/>
              </a:rPr>
              <a:t>Defasagem caiu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21284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64748B"/>
                </a:solidFill>
                <a:latin typeface="Aptos"/>
              </a:rPr>
              <a:t>69,9% → 46,2% entre 2022 e 2024.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71800"/>
            <a:ext cx="5257800" cy="6766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90672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D8CF8"/>
                </a:solidFill>
                <a:latin typeface="Aptos"/>
              </a:rPr>
              <a:t>INDE avançou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08152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64748B"/>
                </a:solidFill>
                <a:latin typeface="Aptos"/>
              </a:rPr>
              <a:t>7,04 → 7,40 no mesmo período.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40479"/>
            <a:ext cx="5257800" cy="6766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59351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EF476F"/>
                </a:solidFill>
                <a:latin typeface="Aptos"/>
              </a:rPr>
              <a:t>Risco continua surgindo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950207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64748B"/>
                </a:solidFill>
                <a:latin typeface="Aptos"/>
              </a:rPr>
              <a:t>22,7% dos adequados em 2023 entraram em defasagem em 2024.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709159"/>
            <a:ext cx="5257800" cy="6766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28031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ptos"/>
              </a:rPr>
              <a:t>Há recuperação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81888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64748B"/>
                </a:solidFill>
                <a:latin typeface="Aptos"/>
              </a:rPr>
              <a:t>43,3% dos defasados acompanhados de 2023 para 2024 saíram da condição.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642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  <a:latin typeface="Aptos"/>
              </a:rPr>
              <a:t>Recomendações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249424"/>
            <a:ext cx="100584" cy="100584"/>
          </a:xfrm>
          <a:prstGeom prst="ellipse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2139696"/>
            <a:ext cx="45994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Usar o score como fila de priorização para acompanhamento humano.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852928"/>
            <a:ext cx="100584" cy="100584"/>
          </a:xfrm>
          <a:prstGeom prst="ellipse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743200"/>
            <a:ext cx="45994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Monitorar desempenho e recalibrar o modelo quando novos ciclos forem incorporados.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456432"/>
            <a:ext cx="100584" cy="100584"/>
          </a:xfrm>
          <a:prstGeom prst="ellipse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3346704"/>
            <a:ext cx="45994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Aprimorar a qualidade dos dados e distinguir ausência de avaliação de valores realmente iguais a zero.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4059936"/>
            <a:ext cx="100584" cy="100584"/>
          </a:xfrm>
          <a:prstGeom prst="ellipse">
            <a:avLst/>
          </a:prstGeom>
          <a:solidFill>
            <a:srgbClr val="1D8CF8"/>
          </a:solidFill>
          <a:ln>
            <a:solidFill>
              <a:srgbClr val="1D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3950208"/>
            <a:ext cx="45994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Evitar interpretações causais: associações e importâncias preditivas não significam causa.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892040"/>
            <a:ext cx="5102352" cy="11430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51023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Entregáveis publicados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54864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3C5FD"/>
                </a:solidFill>
                <a:latin typeface="Aptos"/>
                <a:hlinkClick r:id="rId2"/>
              </a:rPr>
              <a:t>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486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3C5FD"/>
                </a:solidFill>
                <a:latin typeface="Aptos"/>
                <a:hlinkClick r:id="rId3"/>
              </a:rPr>
              <a:t>Power BI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5486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3C5FD"/>
                </a:solidFill>
                <a:latin typeface="Aptos"/>
                <a:hlinkClick r:id="rId4"/>
              </a:rPr>
              <a:t>Streamlit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8" y="54864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3C5FD"/>
                </a:solidFill>
                <a:latin typeface="Aptos"/>
                <a:hlinkClick r:id="rId5"/>
              </a:rPr>
              <a:t>Vídeo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5257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Aptos"/>
              </a:rPr>
              <a:t>Resultado: uma solução de apoio à identificação preventiva de risco educacional, com interpretação responsável e foco gerencial.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Datathon Pós-Tech • Associação Passos Mágicos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Datathon Passos Mágicos — Predição de Risco Educacional</dc:title>
  <dc:subject>Apresentação gerencial do Datathon Pós-Tech</dc:subject>
  <dc:creator>Pedro Ezequiel Ferreira Lima</dc:creator>
  <cp:keywords>Datathon, Passos Mágicos, Power BI, Machine Learning, Streamlit, Defasagem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